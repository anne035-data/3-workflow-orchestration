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6" r:id="rId4"/>
    <p:sldId id="264" r:id="rId5"/>
    <p:sldId id="257" r:id="rId6"/>
    <p:sldId id="258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DCA63-7E55-BA35-834A-EE9D86709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EE5B45-3292-B653-52B0-5CE8E6F6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8196B-E19A-AB09-E881-2350EAD6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1754E4-DC46-403F-3CDE-BF879209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9ADBDC-5365-B5A5-1CD0-186688EE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8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AED46-2112-929F-C256-12BF4E70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9E66FA-B286-B478-4C87-8DA24D8A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6C103D-DA97-F876-BB7E-4A1DAD13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17FF3B-D58F-CE76-88D2-2C94316B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535C60-538B-948E-DA5B-DA11C3BC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6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A92FD-4773-AB07-A04E-081AFE91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43DF71-D9AF-70C2-F5B5-3F040983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784C34-1DF9-FB41-A1D5-EF39FBAA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5EC517-80F7-C582-BC6C-C0767F19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65B000-A6BD-F020-F912-AF50D6AE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8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5F021-84F7-CF96-156E-702638CA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4E559B-0814-E38A-D0C0-7C6A027E5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9FF121-8F25-88BF-A165-BC7C000A1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E74951-3B49-DA16-77DF-51120F53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1D6F89-E188-5C62-4D0D-E345D8FB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BD8ACF-BEF1-AB63-2494-168C36D4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11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F5DA2-090C-E4D1-02DA-3D1A8EAF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902504-F7E7-618D-C655-9CB531FCB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99961E-18C5-0DFE-7D84-3723CDC2F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E39275-EA08-860B-496F-99F2BF76C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D43118-A763-75E0-08E3-448020054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220C01-EB23-4109-DF7D-A2673D5B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79339C-3AED-F0EE-1F25-C7121E6F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A3A7AC-7DB9-4F39-D0C4-B860D33C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41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AC197-0E43-FB31-A371-567AEABE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ADC8ED-0FED-B542-A21F-A6A4ADE6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2C1865-3DAD-71E3-2861-8D82BAEE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D3C2FF-D1AB-6F83-A8C9-BB367672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2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A93395-6D36-018E-F1AD-CFF9118A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4FACC8-B500-252B-4ABE-1BB9BA6A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355E32-0F24-37EB-1481-A7D81A95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9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C295-8AD3-7E37-DF27-3BF2EC09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D65A1B-947C-9B46-905B-BDDFC1C5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C6C73C-106A-73F2-2592-6DC47247B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859C55-EEB8-A154-CE6F-E16000CD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E758F2-62C4-4394-A574-3388C4F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947609-3991-AEA7-D9CF-4CB15968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03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9959C-94AB-FA36-D610-FCA1EC52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9959D3-D338-3458-0286-623BD8E60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8B8795-AB56-C441-FFB2-CF1EAC2A3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91017B-45E5-D9D8-E8BF-AE705181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0447F7-BFAC-E77C-A46C-CB5BD8B2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C1562D-5FD0-93E8-69B6-B9239B56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06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F6567-3123-57EA-20B2-7D701214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63A31D-529C-A3E3-A940-2A54BBDC0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260C29-A057-A3DF-FEA6-66600FFB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7A09E4-A084-DB0C-57AB-347C7566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818812-F815-D87F-91EE-3921F1E9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86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3FB297-1D44-0A2F-EA91-160756D4E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CB4B3C-5DA8-E715-9457-0F49A366C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5A8CD7-4CB6-C363-A8D0-5F543052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DBCBB0-E38B-1B2B-1F0A-1CD0A38E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C35282-F7C2-2DE0-DD6C-E25ED31B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2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53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5">
                <a:lumMod val="7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3652115-A3CF-CD7F-534F-B9AE9AB4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745386-0FE1-9FD5-C9FB-39CC87B4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D1582D-A42D-7A0B-B755-E9FAED423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80970-1D0E-4226-9FDB-4BE6CD3685FA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EC1967-DE97-7F33-5DAA-C4DFAE6D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D916D2-6B9C-90EC-B5BC-E7E383542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93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" r="-20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15152" y="3038368"/>
            <a:ext cx="7761697" cy="781265"/>
          </a:xfrm>
          <a:custGeom>
            <a:avLst/>
            <a:gdLst/>
            <a:ahLst/>
            <a:cxnLst/>
            <a:rect l="l" t="t" r="r" b="b"/>
            <a:pathLst>
              <a:path w="11642546" h="1171897">
                <a:moveTo>
                  <a:pt x="0" y="0"/>
                </a:moveTo>
                <a:lnTo>
                  <a:pt x="11642546" y="0"/>
                </a:lnTo>
                <a:lnTo>
                  <a:pt x="11642546" y="1171898"/>
                </a:lnTo>
                <a:lnTo>
                  <a:pt x="0" y="117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308" y="0"/>
            <a:ext cx="12133385" cy="6858000"/>
          </a:xfrm>
          <a:custGeom>
            <a:avLst/>
            <a:gdLst/>
            <a:ahLst/>
            <a:cxnLst/>
            <a:rect l="l" t="t" r="r" b="b"/>
            <a:pathLst>
              <a:path w="12942277" h="7315200">
                <a:moveTo>
                  <a:pt x="0" y="0"/>
                </a:moveTo>
                <a:lnTo>
                  <a:pt x="12942276" y="0"/>
                </a:lnTo>
                <a:lnTo>
                  <a:pt x="12942276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61057" y="1678864"/>
            <a:ext cx="3294052" cy="329405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501" y="0"/>
                  </a:moveTo>
                  <a:lnTo>
                    <a:pt x="781299" y="0"/>
                  </a:lnTo>
                  <a:cubicBezTo>
                    <a:pt x="789653" y="0"/>
                    <a:pt x="797666" y="3319"/>
                    <a:pt x="803573" y="9227"/>
                  </a:cubicBezTo>
                  <a:cubicBezTo>
                    <a:pt x="809481" y="15134"/>
                    <a:pt x="812800" y="23147"/>
                    <a:pt x="812800" y="31501"/>
                  </a:cubicBezTo>
                  <a:lnTo>
                    <a:pt x="812800" y="781299"/>
                  </a:lnTo>
                  <a:cubicBezTo>
                    <a:pt x="812800" y="789653"/>
                    <a:pt x="809481" y="797666"/>
                    <a:pt x="803573" y="803573"/>
                  </a:cubicBezTo>
                  <a:cubicBezTo>
                    <a:pt x="797666" y="809481"/>
                    <a:pt x="789653" y="812800"/>
                    <a:pt x="781299" y="812800"/>
                  </a:cubicBezTo>
                  <a:lnTo>
                    <a:pt x="31501" y="812800"/>
                  </a:lnTo>
                  <a:cubicBezTo>
                    <a:pt x="23147" y="812800"/>
                    <a:pt x="15134" y="809481"/>
                    <a:pt x="9227" y="803573"/>
                  </a:cubicBezTo>
                  <a:cubicBezTo>
                    <a:pt x="3319" y="797666"/>
                    <a:pt x="0" y="789653"/>
                    <a:pt x="0" y="781299"/>
                  </a:cubicBezTo>
                  <a:lnTo>
                    <a:pt x="0" y="31501"/>
                  </a:lnTo>
                  <a:cubicBezTo>
                    <a:pt x="0" y="23147"/>
                    <a:pt x="3319" y="15134"/>
                    <a:pt x="9227" y="9227"/>
                  </a:cubicBezTo>
                  <a:cubicBezTo>
                    <a:pt x="15134" y="3319"/>
                    <a:pt x="23147" y="0"/>
                    <a:pt x="31501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2536156" y="2199936"/>
            <a:ext cx="3341798" cy="223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38"/>
              </a:lnSpc>
            </a:pPr>
            <a:r>
              <a:rPr lang="en-US" sz="2313">
                <a:solidFill>
                  <a:srgbClr val="DFE1DE"/>
                </a:solidFill>
                <a:latin typeface="Open Sans"/>
                <a:ea typeface="Open Sans"/>
                <a:cs typeface="Open Sans"/>
                <a:sym typeface="Open Sans"/>
              </a:rPr>
              <a:t>La fraude financière représente plus</a:t>
            </a:r>
          </a:p>
          <a:p>
            <a:pPr>
              <a:lnSpc>
                <a:spcPts val="4677"/>
              </a:lnSpc>
            </a:pPr>
            <a:r>
              <a:rPr lang="en-US" sz="3057">
                <a:solidFill>
                  <a:srgbClr val="DFE1DE"/>
                </a:solidFill>
                <a:latin typeface="Open Sans"/>
                <a:ea typeface="Open Sans"/>
                <a:cs typeface="Open Sans"/>
                <a:sym typeface="Open Sans"/>
              </a:rPr>
              <a:t> d'1 milliard € </a:t>
            </a:r>
          </a:p>
          <a:p>
            <a:pPr>
              <a:lnSpc>
                <a:spcPts val="3538"/>
              </a:lnSpc>
            </a:pPr>
            <a:r>
              <a:rPr lang="en-US" sz="2313">
                <a:solidFill>
                  <a:srgbClr val="DFE1DE"/>
                </a:solidFill>
                <a:latin typeface="Open Sans"/>
                <a:ea typeface="Open Sans"/>
                <a:cs typeface="Open Sans"/>
                <a:sym typeface="Open Sans"/>
              </a:rPr>
              <a:t>de pertes en Europe</a:t>
            </a:r>
          </a:p>
          <a:p>
            <a:pPr>
              <a:lnSpc>
                <a:spcPts val="2221"/>
              </a:lnSpc>
            </a:pPr>
            <a:endParaRPr lang="en-US" sz="2313">
              <a:solidFill>
                <a:srgbClr val="DFE1D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723196D1-819B-9B02-EBAF-5F1D96DFC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99A8996-5BFE-0D97-7334-E81573349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07DAA9B-5112-CDAD-588A-EFF3B98C543D}"/>
              </a:ext>
            </a:extLst>
          </p:cNvPr>
          <p:cNvSpPr txBox="1"/>
          <p:nvPr/>
        </p:nvSpPr>
        <p:spPr>
          <a:xfrm>
            <a:off x="1529214" y="1098371"/>
            <a:ext cx="5708984" cy="148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>
              <a:effectLst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Nécessité d'une détection en temps réel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Besoin d'un système automatisé et fiable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00E020D-1B76-A477-9615-19273AC7CF8B}"/>
              </a:ext>
            </a:extLst>
          </p:cNvPr>
          <p:cNvSpPr txBox="1"/>
          <p:nvPr/>
        </p:nvSpPr>
        <p:spPr>
          <a:xfrm>
            <a:off x="3470870" y="2860907"/>
            <a:ext cx="7534656" cy="669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>
              <a:effectLst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Demandes du client : alerte immédiate + rapport quotidien le matin</a:t>
            </a:r>
          </a:p>
        </p:txBody>
      </p:sp>
    </p:spTree>
    <p:extLst>
      <p:ext uri="{BB962C8B-B14F-4D97-AF65-F5344CB8AC3E}">
        <p14:creationId xmlns:p14="http://schemas.microsoft.com/office/powerpoint/2010/main" val="417958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45" r="-1694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56763" y="1634203"/>
            <a:ext cx="6878475" cy="3510640"/>
          </a:xfrm>
          <a:custGeom>
            <a:avLst/>
            <a:gdLst/>
            <a:ahLst/>
            <a:cxnLst/>
            <a:rect l="l" t="t" r="r" b="b"/>
            <a:pathLst>
              <a:path w="7337040" h="3744683">
                <a:moveTo>
                  <a:pt x="0" y="0"/>
                </a:moveTo>
                <a:lnTo>
                  <a:pt x="7337040" y="0"/>
                </a:lnTo>
                <a:lnTo>
                  <a:pt x="7337040" y="3744683"/>
                </a:lnTo>
                <a:lnTo>
                  <a:pt x="0" y="3744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65442" y="1202238"/>
            <a:ext cx="937113" cy="524783"/>
          </a:xfrm>
          <a:custGeom>
            <a:avLst/>
            <a:gdLst/>
            <a:ahLst/>
            <a:cxnLst/>
            <a:rect l="l" t="t" r="r" b="b"/>
            <a:pathLst>
              <a:path w="999587" h="559769">
                <a:moveTo>
                  <a:pt x="0" y="0"/>
                </a:moveTo>
                <a:lnTo>
                  <a:pt x="999587" y="0"/>
                </a:lnTo>
                <a:lnTo>
                  <a:pt x="999587" y="559769"/>
                </a:lnTo>
                <a:lnTo>
                  <a:pt x="0" y="55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2824DE-7079-12BB-0D0C-F0E5D4A944A1}"/>
              </a:ext>
            </a:extLst>
          </p:cNvPr>
          <p:cNvSpPr txBox="1"/>
          <p:nvPr/>
        </p:nvSpPr>
        <p:spPr>
          <a:xfrm>
            <a:off x="1764631" y="447770"/>
            <a:ext cx="307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TECHNIQUE 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B5C297C-A0E9-1092-0295-CCEFD97C33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0E2BD-A2F6-7432-9583-AE7D64B5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B414ECA4-6D41-51D4-6791-F7ADAB6A1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F147A58-E54D-962C-9731-4372C5AAB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97C33-72F2-8CEF-3ECC-8826E48618FF}"/>
              </a:ext>
            </a:extLst>
          </p:cNvPr>
          <p:cNvSpPr txBox="1"/>
          <p:nvPr/>
        </p:nvSpPr>
        <p:spPr>
          <a:xfrm>
            <a:off x="1764631" y="447770"/>
            <a:ext cx="307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PIPELINES DE DONNÉES 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35F1BA-87D1-A117-8D0A-F518D5394828}"/>
              </a:ext>
            </a:extLst>
          </p:cNvPr>
          <p:cNvSpPr txBox="1"/>
          <p:nvPr/>
        </p:nvSpPr>
        <p:spPr>
          <a:xfrm>
            <a:off x="214681" y="1508582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Détection de fraude 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1135E0-136C-33DD-BC29-E79203366F6B}"/>
              </a:ext>
            </a:extLst>
          </p:cNvPr>
          <p:cNvSpPr txBox="1"/>
          <p:nvPr/>
        </p:nvSpPr>
        <p:spPr>
          <a:xfrm>
            <a:off x="-272715" y="1693248"/>
            <a:ext cx="6128084" cy="2459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>
              <a:effectLst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chaque minute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Étapes clés : 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Collecte des données API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Chargement du modèle depuis S3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Prédiction et analyse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 par email si fraude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Stockage en base de données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76F9DB-9946-F7DC-9A18-89DEFDC8E6F2}"/>
              </a:ext>
            </a:extLst>
          </p:cNvPr>
          <p:cNvSpPr txBox="1"/>
          <p:nvPr/>
        </p:nvSpPr>
        <p:spPr>
          <a:xfrm>
            <a:off x="3300341" y="1989226"/>
            <a:ext cx="6128084" cy="186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quotidienne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Métriques clés : 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Disponibilité API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Connexion base de données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Accès stockage S3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Rapport de santé par email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5F28D0-11EC-AC2E-F09C-9E7D6CC9D91C}"/>
              </a:ext>
            </a:extLst>
          </p:cNvPr>
          <p:cNvSpPr txBox="1"/>
          <p:nvPr/>
        </p:nvSpPr>
        <p:spPr>
          <a:xfrm>
            <a:off x="3593432" y="1515421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</a:t>
            </a:r>
            <a:r>
              <a:rPr lang="fr-F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53F29F-5C7E-0C9C-E8B8-39A878FB745C}"/>
              </a:ext>
            </a:extLst>
          </p:cNvPr>
          <p:cNvSpPr txBox="1"/>
          <p:nvPr/>
        </p:nvSpPr>
        <p:spPr>
          <a:xfrm>
            <a:off x="6591486" y="1602249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Backup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92A6AB3-C9F8-FED3-4FB8-3DD272A90B6A}"/>
              </a:ext>
            </a:extLst>
          </p:cNvPr>
          <p:cNvSpPr txBox="1"/>
          <p:nvPr/>
        </p:nvSpPr>
        <p:spPr>
          <a:xfrm>
            <a:off x="9199229" y="1617522"/>
            <a:ext cx="2423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Reporting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7C6DAE0-2B85-8605-2D1F-3EC301D82A91}"/>
              </a:ext>
            </a:extLst>
          </p:cNvPr>
          <p:cNvSpPr txBox="1"/>
          <p:nvPr/>
        </p:nvSpPr>
        <p:spPr>
          <a:xfrm>
            <a:off x="6657474" y="1976326"/>
            <a:ext cx="8061158" cy="155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 mensuelle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Points clés : 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 CSV des tables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Upload vers S3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 de confirmation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BC82E15-7D0A-4CFB-58AF-CBCBE5523D43}"/>
              </a:ext>
            </a:extLst>
          </p:cNvPr>
          <p:cNvSpPr txBox="1"/>
          <p:nvPr/>
        </p:nvSpPr>
        <p:spPr>
          <a:xfrm>
            <a:off x="9177928" y="2011616"/>
            <a:ext cx="2895600" cy="249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 quotidien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Métriques clés 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total de transactions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de fraudes détectées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Taux de fraude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Montants totaux et moyens</a:t>
            </a:r>
            <a:endParaRPr lang="fr-FR" sz="1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Reporting par email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19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CA3E-3B0C-7E67-433B-059CA54F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9B5769AA-89A6-452C-0F7B-9355F8C28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E073B0C-1232-5ADA-ABDD-3CCDDA558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50C5381-71EA-D235-828C-819C0D2DD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58270"/>
            <a:ext cx="6394704" cy="147533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F58890B-2CD0-EE86-AA43-42656A5A3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3237242"/>
            <a:ext cx="3496163" cy="53347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7224F93-33C9-EB43-37FB-B697D4AD2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3809987"/>
            <a:ext cx="5715798" cy="61921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94E8263-EC3A-B3CC-AD4E-2C2D441C2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28" y="4468469"/>
            <a:ext cx="5125165" cy="43821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842B558-50F1-332F-B93A-3C7F4870CD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928" y="4945951"/>
            <a:ext cx="3362794" cy="41915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AF2337D-3B4B-48F0-44F7-A60600AC597A}"/>
              </a:ext>
            </a:extLst>
          </p:cNvPr>
          <p:cNvSpPr txBox="1"/>
          <p:nvPr/>
        </p:nvSpPr>
        <p:spPr>
          <a:xfrm>
            <a:off x="1538387" y="394965"/>
            <a:ext cx="307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90748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145</Words>
  <Application>Microsoft Office PowerPoint</Application>
  <PresentationFormat>Grand écran</PresentationFormat>
  <Paragraphs>41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Open Sans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LE MER</dc:creator>
  <cp:lastModifiedBy>Anne LE MER</cp:lastModifiedBy>
  <cp:revision>10</cp:revision>
  <dcterms:created xsi:type="dcterms:W3CDTF">2025-01-25T11:25:48Z</dcterms:created>
  <dcterms:modified xsi:type="dcterms:W3CDTF">2025-04-22T08:53:48Z</dcterms:modified>
</cp:coreProperties>
</file>